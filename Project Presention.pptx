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C7D8887C-7EF0-4836-BEBD-6849D3724569}" type="datetimeFigureOut">
              <a:rPr lang="en-IN" smtClean="0"/>
              <a:pPr/>
              <a:t>05-12-2025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D1EED570-12FC-41A8-A6BD-EC279C6036D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73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662CF-6AAB-41E5-9F59-5F9821C23A07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88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0723-934B-4C5C-8E11-E1A0D01FA804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36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16D70-AEA4-4737-B110-42188A0D2734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35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2AFAF-C2C2-4F1D-A9E2-FBD526C52A90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38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17F2-7850-43DB-87C4-6B69E3351041}" type="datetime1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25A6-829B-458F-BE3C-BFBBE8285B5F}" type="datetime1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56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6450E-2391-48A4-94F5-674C0D15D9AF}" type="datetime1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57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7ACD5-39B7-4B68-9759-FD02D7A8C9D4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22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3984C-E423-4DD4-8F10-D1B767775CC5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367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7743-250E-476C-AEB6-30ABC12C9432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56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F9301-C3DC-4859-A0E7-08AD7EBFEC04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A7228-CC1B-43A0-B0BD-71BB82C556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59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B1FAF43-094C-4256-886E-2CC6F4954150}" type="datetime1">
              <a:rPr lang="en-IN" smtClean="0"/>
              <a:t>05-12-2025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/>
              <a:t>8th Mile X Overnight Hackathon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9E7A7228-CC1B-43A0-B0BD-71BB82C556D5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5401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9612-7AE2-27E2-C33A-A73383CFC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0595"/>
            <a:ext cx="9144000" cy="13993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Name:Meow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FCA5A-0F2F-79F8-C0C2-E15F754EC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r>
              <a:rPr lang="en-IN" dirty="0">
                <a:cs typeface="Times New Roman" panose="02020603050405020304" pitchFamily="18" charset="0"/>
              </a:rPr>
              <a:t>Krishnadasa Raja </a:t>
            </a:r>
          </a:p>
          <a:p>
            <a:r>
              <a:rPr lang="en-IN" dirty="0">
                <a:cs typeface="Times New Roman" panose="02020603050405020304" pitchFamily="18" charset="0"/>
              </a:rPr>
              <a:t>Pavan Kumar</a:t>
            </a:r>
          </a:p>
          <a:p>
            <a:r>
              <a:rPr lang="en-IN" dirty="0">
                <a:cs typeface="Times New Roman" panose="02020603050405020304" pitchFamily="18" charset="0"/>
              </a:rPr>
              <a:t>Vijayakumar Police Patil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F04C8E-105F-DEFB-9BE3-A3532FB04480}"/>
              </a:ext>
            </a:extLst>
          </p:cNvPr>
          <p:cNvSpPr txBox="1"/>
          <p:nvPr/>
        </p:nvSpPr>
        <p:spPr>
          <a:xfrm>
            <a:off x="3048000" y="32457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5407D8-01FB-606E-FF88-38D90059A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7" y="310556"/>
            <a:ext cx="2305893" cy="990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EF3145-EB29-5521-1C64-590D28F5B7E7}"/>
              </a:ext>
            </a:extLst>
          </p:cNvPr>
          <p:cNvSpPr txBox="1"/>
          <p:nvPr/>
        </p:nvSpPr>
        <p:spPr>
          <a:xfrm>
            <a:off x="3357908" y="417905"/>
            <a:ext cx="547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ED00"/>
                </a:solidFill>
                <a:latin typeface="Berlin Sans FB Demi" panose="020E0802020502020306" pitchFamily="34" charset="0"/>
              </a:rPr>
              <a:t>Overnight Hackathon</a:t>
            </a:r>
            <a:endParaRPr lang="en-IN" sz="4000" dirty="0">
              <a:solidFill>
                <a:srgbClr val="FFED0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026" name="Picture 2" descr="Coding Club RVCE - YouTube">
            <a:extLst>
              <a:ext uri="{FF2B5EF4-FFF2-40B4-BE49-F238E27FC236}">
                <a16:creationId xmlns:a16="http://schemas.microsoft.com/office/drawing/2014/main" id="{B7DA7CCD-8519-BB5C-FF2C-98F56B8879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217663" y="182181"/>
            <a:ext cx="1611544" cy="133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53965-DDE0-071D-A944-C778F6F5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8th Mile X Overnight Hackathon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A1C2B0-E1CF-A76A-8DA1-1861999832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45" y="182181"/>
            <a:ext cx="1119019" cy="111901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A40A5D-41C7-857C-C05E-2517086FB91D}"/>
              </a:ext>
            </a:extLst>
          </p:cNvPr>
          <p:cNvCxnSpPr>
            <a:cxnSpLocks/>
          </p:cNvCxnSpPr>
          <p:nvPr/>
        </p:nvCxnSpPr>
        <p:spPr>
          <a:xfrm>
            <a:off x="10947002" y="310556"/>
            <a:ext cx="0" cy="92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68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DB19-A6AA-2E16-D353-BB481801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Problem Statement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28F3-FC1D-27D5-3E6D-B8072661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Maintain academic integrity in online assessments. </a:t>
            </a:r>
          </a:p>
          <a:p>
            <a:r>
              <a:rPr lang="en-IN" dirty="0"/>
              <a:t>Avoid intrusive video-based proctoring (privacy-compliant and non invasive). </a:t>
            </a:r>
          </a:p>
          <a:p>
            <a:pPr marL="0" indent="0">
              <a:buNone/>
            </a:pPr>
            <a:r>
              <a:rPr lang="en-IN" dirty="0"/>
              <a:t>   Design a scalable system. </a:t>
            </a:r>
          </a:p>
          <a:p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non-invasive </a:t>
            </a:r>
            <a:r>
              <a:rPr lang="en-IN" dirty="0" err="1"/>
              <a:t>behavioral</a:t>
            </a:r>
            <a:r>
              <a:rPr lang="en-IN" dirty="0"/>
              <a:t> signals:</a:t>
            </a:r>
          </a:p>
          <a:p>
            <a:r>
              <a:rPr lang="en-IN" dirty="0"/>
              <a:t>Generate a real-time risk score. </a:t>
            </a:r>
          </a:p>
          <a:p>
            <a:r>
              <a:rPr lang="en-IN" dirty="0"/>
              <a:t>The risk score must adapt dynamically to user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r>
              <a:rPr lang="en-IN" dirty="0"/>
              <a:t> Automatically trigger appropriate interventions when </a:t>
            </a:r>
            <a:r>
              <a:rPr lang="en-IN" dirty="0" err="1"/>
              <a:t>suspiciouspatterns</a:t>
            </a:r>
            <a:r>
              <a:rPr lang="en-IN" dirty="0"/>
              <a:t> emerge.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CEF9FE-2345-2CFD-5A68-9F5E3688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09480E-04FA-0596-F393-3CC80184F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6" name="Picture 2" descr="Coding Club RVCE - YouTube">
            <a:extLst>
              <a:ext uri="{FF2B5EF4-FFF2-40B4-BE49-F238E27FC236}">
                <a16:creationId xmlns:a16="http://schemas.microsoft.com/office/drawing/2014/main" id="{8EBE7C6E-E10C-2734-429D-7B6C92A3A9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1674D7-F761-1FCA-898E-0ADCB8EE0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B5D268-A3D1-AD21-1ADF-BF036EA48E60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999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97B2-096F-8F6E-FFD3-9A6DA573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Proposed Solution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5FDBB-DB73-42AA-8F1A-CC2DDD1A7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- Collects non-invasive signals (mouse movements, </a:t>
            </a:r>
            <a:r>
              <a:rPr lang="en-IN" dirty="0" err="1"/>
              <a:t>keystrokedynamics</a:t>
            </a:r>
            <a:r>
              <a:rPr lang="en-IN" dirty="0"/>
              <a:t>, window-switching). </a:t>
            </a:r>
          </a:p>
          <a:p>
            <a:r>
              <a:rPr lang="en-IN" dirty="0"/>
              <a:t>Generates a real-time risk score that adapts dynamically to </a:t>
            </a:r>
            <a:r>
              <a:rPr lang="en-IN" dirty="0" err="1"/>
              <a:t>candidatebehavior</a:t>
            </a:r>
            <a:r>
              <a:rPr lang="en-IN" dirty="0"/>
              <a:t> by using :</a:t>
            </a:r>
          </a:p>
          <a:p>
            <a:r>
              <a:rPr lang="en-IN" dirty="0"/>
              <a:t>Formula: Risk Score = min(100, (</a:t>
            </a:r>
            <a:r>
              <a:rPr lang="en-IN" dirty="0" err="1"/>
              <a:t>mouseMoves</a:t>
            </a:r>
            <a:r>
              <a:rPr lang="en-IN" dirty="0"/>
              <a:t>) *0.025) +                (\</a:t>
            </a:r>
            <a:r>
              <a:rPr lang="en-IN" dirty="0" err="1"/>
              <a:t>keyDowns</a:t>
            </a:r>
            <a:r>
              <a:rPr lang="en-IN" dirty="0"/>
              <a:t>*0.10) + (blurs *80)).</a:t>
            </a:r>
          </a:p>
          <a:p>
            <a:pPr marL="0" indent="0">
              <a:buNone/>
            </a:pPr>
            <a:r>
              <a:rPr lang="en-US" dirty="0"/>
              <a:t>• Triggers automated interventions when suspicious patterns emerge </a:t>
            </a:r>
            <a:r>
              <a:rPr lang="en-US" dirty="0" err="1"/>
              <a:t>thisis</a:t>
            </a:r>
            <a:r>
              <a:rPr lang="en-US" dirty="0"/>
              <a:t> achieved when risk score crosses 80 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0965B-6823-497E-AFB8-4ABB6713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D19F21-6554-EE4F-1134-2DFE846B7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62335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id="{6056AACE-5E5F-784F-1F02-130C50F51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40412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8D0EB-9488-944E-5ABA-98B1C36CF4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40412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E3E2D7-5126-6436-C689-6DEC3DEE0724}"/>
              </a:ext>
            </a:extLst>
          </p:cNvPr>
          <p:cNvCxnSpPr>
            <a:cxnSpLocks/>
          </p:cNvCxnSpPr>
          <p:nvPr/>
        </p:nvCxnSpPr>
        <p:spPr>
          <a:xfrm>
            <a:off x="11205791" y="255536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06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BB26-CD15-DCB2-2437-C4CF2B67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Key Features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ACEF9-E95D-50AB-0947-0F843C39C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Adaptive risk scoring using </a:t>
            </a:r>
            <a:r>
              <a:rPr lang="en-IN" dirty="0" err="1"/>
              <a:t>behavioral</a:t>
            </a:r>
            <a:r>
              <a:rPr lang="en-IN" dirty="0"/>
              <a:t> signals by using </a:t>
            </a:r>
            <a:r>
              <a:rPr lang="en-IN" dirty="0" err="1"/>
              <a:t>javascript</a:t>
            </a:r>
            <a:r>
              <a:rPr lang="en-IN" dirty="0"/>
              <a:t>.</a:t>
            </a:r>
          </a:p>
          <a:p>
            <a:r>
              <a:rPr lang="en-IN" dirty="0"/>
              <a:t> Automated interventions (alerts, warnings, flagging) by </a:t>
            </a:r>
            <a:r>
              <a:rPr lang="en-IN" dirty="0" err="1"/>
              <a:t>calculatingthe</a:t>
            </a:r>
            <a:r>
              <a:rPr lang="en-IN" dirty="0"/>
              <a:t> risk scores.</a:t>
            </a:r>
          </a:p>
          <a:p>
            <a:r>
              <a:rPr lang="en-IN" dirty="0"/>
              <a:t>Scalable deployment for large institutions. </a:t>
            </a:r>
          </a:p>
          <a:p>
            <a:r>
              <a:rPr lang="en-IN" dirty="0"/>
              <a:t>Privacy-first design aligned with global regulations(preventing </a:t>
            </a:r>
            <a:r>
              <a:rPr lang="en-IN" dirty="0" err="1"/>
              <a:t>theusage</a:t>
            </a:r>
            <a:r>
              <a:rPr lang="en-IN" dirty="0"/>
              <a:t> of video based protocol.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BD847-7ED9-F646-AB7E-E9606D42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044D5-379F-F03D-8F3B-3D939046F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6584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id="{C1440A6D-A1C8-C404-9784-2A8E3A485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34661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271AB1-287D-AF8A-726C-2B1A83C1A0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34661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B2D34A-EB28-6373-AFFB-E3BE50E6BF03}"/>
              </a:ext>
            </a:extLst>
          </p:cNvPr>
          <p:cNvCxnSpPr>
            <a:cxnSpLocks/>
          </p:cNvCxnSpPr>
          <p:nvPr/>
        </p:nvCxnSpPr>
        <p:spPr>
          <a:xfrm>
            <a:off x="11205791" y="249785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42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A354-0961-EB0C-3268-4D25B288D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16F5F-5EA3-A182-2137-66D21004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System Architecture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C9DB1-EDA2-1345-AD0F-495861D3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 Data Capture Layer: Collects non-intrusive signals by using </a:t>
            </a:r>
            <a:r>
              <a:rPr lang="en-IN" dirty="0" err="1"/>
              <a:t>javascript</a:t>
            </a:r>
            <a:r>
              <a:rPr lang="en-IN" dirty="0"/>
              <a:t>.</a:t>
            </a:r>
          </a:p>
          <a:p>
            <a:r>
              <a:rPr lang="en-IN" dirty="0"/>
              <a:t>Stream </a:t>
            </a:r>
            <a:r>
              <a:rPr lang="en-IN" dirty="0" err="1"/>
              <a:t>Processsing</a:t>
            </a:r>
            <a:r>
              <a:rPr lang="en-IN" dirty="0"/>
              <a:t> </a:t>
            </a:r>
            <a:r>
              <a:rPr lang="en-IN" dirty="0" err="1"/>
              <a:t>Layer:Processes</a:t>
            </a:r>
            <a:r>
              <a:rPr lang="en-IN" dirty="0"/>
              <a:t> </a:t>
            </a:r>
            <a:r>
              <a:rPr lang="en-IN" dirty="0" err="1"/>
              <a:t>behavior</a:t>
            </a:r>
            <a:r>
              <a:rPr lang="en-IN" dirty="0"/>
              <a:t> data in real time. Cleans , filters and normalizes raw signal.</a:t>
            </a:r>
          </a:p>
          <a:p>
            <a:r>
              <a:rPr lang="en-IN" dirty="0" err="1"/>
              <a:t>Behavioral</a:t>
            </a:r>
            <a:r>
              <a:rPr lang="en-IN" dirty="0"/>
              <a:t> </a:t>
            </a:r>
            <a:r>
              <a:rPr lang="en-IN" dirty="0" err="1"/>
              <a:t>Analytics:Generates</a:t>
            </a:r>
            <a:r>
              <a:rPr lang="en-IN" dirty="0"/>
              <a:t> a dynamic risk score based </a:t>
            </a:r>
            <a:r>
              <a:rPr lang="en-IN" dirty="0" err="1"/>
              <a:t>oncontinuous</a:t>
            </a:r>
            <a:r>
              <a:rPr lang="en-IN" dirty="0"/>
              <a:t> patterns.</a:t>
            </a:r>
          </a:p>
          <a:p>
            <a:r>
              <a:rPr lang="en-IN" dirty="0"/>
              <a:t>Decision and intervention </a:t>
            </a:r>
            <a:r>
              <a:rPr lang="en-IN" dirty="0" err="1"/>
              <a:t>Module:Applies</a:t>
            </a:r>
            <a:r>
              <a:rPr lang="en-IN" dirty="0"/>
              <a:t> automatic actions </a:t>
            </a:r>
            <a:r>
              <a:rPr lang="en-IN" dirty="0" err="1"/>
              <a:t>whenrisk</a:t>
            </a:r>
            <a:r>
              <a:rPr lang="en-IN" dirty="0"/>
              <a:t> score crosses a threshold. </a:t>
            </a:r>
          </a:p>
          <a:p>
            <a:r>
              <a:rPr lang="en-IN" dirty="0"/>
              <a:t>Admin Dashboard and Reporting :Shows risk </a:t>
            </a:r>
            <a:r>
              <a:rPr lang="en-IN" dirty="0" err="1"/>
              <a:t>scores,flagged</a:t>
            </a:r>
            <a:r>
              <a:rPr lang="en-IN" dirty="0"/>
              <a:t> </a:t>
            </a:r>
            <a:r>
              <a:rPr lang="en-IN" dirty="0" err="1"/>
              <a:t>eventsand</a:t>
            </a:r>
            <a:r>
              <a:rPr lang="en-IN" dirty="0"/>
              <a:t> session summaries.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C09F7-4A06-242C-CA34-E2A2532D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D545C5-2736-5306-F5D1-E2ECC16F8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id="{7779D6B2-D56E-5A53-F6AF-8E2A48A88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696ED6-F8D2-0D65-B14D-49E668795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562EB9-FCBA-D36E-AE7A-E864EE5BBCB3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927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5A8BD-A6DB-C0A3-7240-9026AD6D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E4FB-1F96-CD1B-8358-DA55D4EE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Tech Stack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5DA2D-CD18-2532-459A-A62737274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JavaScript is used for tracking and collection by the means of </a:t>
            </a:r>
            <a:r>
              <a:rPr lang="en-US" dirty="0" err="1"/>
              <a:t>mousemovement</a:t>
            </a:r>
            <a:r>
              <a:rPr lang="en-US" dirty="0"/>
              <a:t>, </a:t>
            </a:r>
            <a:r>
              <a:rPr lang="en-US" dirty="0" err="1"/>
              <a:t>keystrok</a:t>
            </a:r>
            <a:r>
              <a:rPr lang="en-US" dirty="0"/>
              <a:t> and blur event.</a:t>
            </a:r>
          </a:p>
          <a:p>
            <a:pPr algn="just"/>
            <a:r>
              <a:rPr lang="en-US" dirty="0"/>
              <a:t>Html and </a:t>
            </a:r>
            <a:r>
              <a:rPr lang="en-US" dirty="0" err="1"/>
              <a:t>Css</a:t>
            </a:r>
            <a:r>
              <a:rPr lang="en-US" dirty="0"/>
              <a:t> is used for designing the website and taking in the </a:t>
            </a:r>
            <a:r>
              <a:rPr lang="en-US" dirty="0" err="1"/>
              <a:t>inputby</a:t>
            </a:r>
            <a:r>
              <a:rPr lang="en-US" dirty="0"/>
              <a:t> the user for online assessment.</a:t>
            </a:r>
          </a:p>
          <a:p>
            <a:pPr algn="just"/>
            <a:r>
              <a:rPr lang="en-US" dirty="0"/>
              <a:t>Excel Sheet for storing of the data collected earlier . This could </a:t>
            </a:r>
            <a:r>
              <a:rPr lang="en-US" dirty="0" err="1"/>
              <a:t>beused</a:t>
            </a:r>
            <a:r>
              <a:rPr lang="en-US" dirty="0"/>
              <a:t> to by the user for appealing the decisions by the software.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B026B-73F6-2B93-1AE5-C0278CF1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696FF0-45CD-49ED-9DE4-BAD88486C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id="{54C0E578-EAFC-0379-2FD3-6A5836BDC7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64925B-8E60-5270-DB2E-EF39F9639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561A5E-C8DB-E390-CCA2-68B9974C0B4C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827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ECF2-EEA9-FF06-35BA-7A331984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6598-E773-1823-49CE-8650DDEA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Challenges Faced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1DF0-89E9-76B9-AD6A-DB306A119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 faced was establishment of connection between the </a:t>
            </a:r>
            <a:r>
              <a:rPr lang="en-US" dirty="0" err="1"/>
              <a:t>loginpage</a:t>
            </a:r>
            <a:r>
              <a:rPr lang="en-US" dirty="0"/>
              <a:t> and quiz page.</a:t>
            </a:r>
          </a:p>
          <a:p>
            <a:r>
              <a:rPr lang="en-US" dirty="0"/>
              <a:t>Deciding the parameter, for warning system and </a:t>
            </a:r>
            <a:r>
              <a:rPr lang="en-US" dirty="0" err="1"/>
              <a:t>automaticsubmission</a:t>
            </a:r>
            <a:r>
              <a:rPr lang="en-US" dirty="0"/>
              <a:t> ,which is used for calculation of risk score.</a:t>
            </a:r>
          </a:p>
          <a:p>
            <a:r>
              <a:rPr lang="en-US" dirty="0"/>
              <a:t>We tried to connect database for the interface but unable to do the </a:t>
            </a:r>
            <a:r>
              <a:rPr lang="en-US" dirty="0" err="1"/>
              <a:t>timeconstraint</a:t>
            </a:r>
            <a:r>
              <a:rPr lang="en-US" dirty="0"/>
              <a:t> for event.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562F1-842D-8BCE-F1A6-124D3C7CD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853AD-4104-6B2E-2C5B-295E6A93A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id="{456F6264-AF4A-3512-C2D7-84A3F33B4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024DA5-ACD1-028E-9F83-5BB2D7155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E6F8D1-18CF-0F86-F72D-E51E124D4EA8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587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B1502-06F5-81D3-0334-6C386507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E5D65-90C6-4F6A-6DA3-20D7ECCB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erlin Sans FB Demi" panose="020E0802020502020306" pitchFamily="34" charset="0"/>
              </a:rPr>
              <a:t>Future Scope</a:t>
            </a:r>
            <a:endParaRPr lang="en-IN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7A97-2B9D-9814-8CD8-A39480F6E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checking the academic integrity , we do not use the means </a:t>
            </a:r>
            <a:r>
              <a:rPr lang="en-US" dirty="0" err="1"/>
              <a:t>ofvideo</a:t>
            </a:r>
            <a:r>
              <a:rPr lang="en-US" dirty="0"/>
              <a:t> protocol but the means of mouse </a:t>
            </a:r>
            <a:r>
              <a:rPr lang="en-US" dirty="0" err="1"/>
              <a:t>movement,keystroke</a:t>
            </a:r>
            <a:r>
              <a:rPr lang="en-US" dirty="0"/>
              <a:t> and </a:t>
            </a:r>
            <a:r>
              <a:rPr lang="en-US" dirty="0" err="1"/>
              <a:t>tabswitching</a:t>
            </a:r>
            <a:r>
              <a:rPr lang="en-US" dirty="0"/>
              <a:t> .</a:t>
            </a:r>
          </a:p>
          <a:p>
            <a:r>
              <a:rPr lang="en-US" dirty="0"/>
              <a:t>Using this website we reduce the possibility of cheating and </a:t>
            </a:r>
            <a:r>
              <a:rPr lang="en-US" dirty="0" err="1"/>
              <a:t>increasethe</a:t>
            </a:r>
            <a:r>
              <a:rPr lang="en-US" dirty="0"/>
              <a:t> academic integrity.</a:t>
            </a:r>
          </a:p>
          <a:p>
            <a:r>
              <a:rPr lang="en-US" dirty="0"/>
              <a:t>At the end , through this user has opportunity to appeal the </a:t>
            </a:r>
            <a:r>
              <a:rPr lang="en-US" dirty="0" err="1"/>
              <a:t>decisiontaken</a:t>
            </a:r>
            <a:r>
              <a:rPr lang="en-US" dirty="0"/>
              <a:t> by the software by checking the excel datasheet on the </a:t>
            </a:r>
            <a:r>
              <a:rPr lang="en-US" dirty="0" err="1"/>
              <a:t>datacollected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C6248-3965-7E7B-7F81-64DE9BFF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6413DC-DB42-F3F0-AD4D-B9A69A521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5" y="250833"/>
            <a:ext cx="1706952" cy="733330"/>
          </a:xfrm>
          <a:prstGeom prst="rect">
            <a:avLst/>
          </a:prstGeom>
        </p:spPr>
      </p:pic>
      <p:pic>
        <p:nvPicPr>
          <p:cNvPr id="8" name="Picture 2" descr="Coding Club RVCE - YouTube">
            <a:extLst>
              <a:ext uri="{FF2B5EF4-FFF2-40B4-BE49-F238E27FC236}">
                <a16:creationId xmlns:a16="http://schemas.microsoft.com/office/drawing/2014/main" id="{F71F99BF-E0D5-BFCF-C6FA-76011D4D34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821334" y="128910"/>
            <a:ext cx="1226845" cy="101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8FCD37-5D69-195B-0DEA-496CA5E69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838" y="128910"/>
            <a:ext cx="898996" cy="8989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651AEE-733E-F71A-C05E-F0B8E405A9C9}"/>
              </a:ext>
            </a:extLst>
          </p:cNvPr>
          <p:cNvCxnSpPr>
            <a:cxnSpLocks/>
          </p:cNvCxnSpPr>
          <p:nvPr/>
        </p:nvCxnSpPr>
        <p:spPr>
          <a:xfrm>
            <a:off x="11205791" y="244034"/>
            <a:ext cx="0" cy="7469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96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FA20-81FB-1208-323B-9D75E701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CAD1-A3E2-6F90-F026-AF124437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000" dirty="0">
                <a:solidFill>
                  <a:srgbClr val="FFFF00"/>
                </a:solidFill>
                <a:latin typeface="Berlin Sans FB Demi" panose="020E0802020502020306" pitchFamily="34" charset="0"/>
              </a:rPr>
              <a:t>Thank You</a:t>
            </a:r>
            <a:endParaRPr lang="en-IN" sz="7000" dirty="0">
              <a:solidFill>
                <a:srgbClr val="FFFF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17AF0-97CC-2401-0587-8ED61B46F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8th Mile X Overnight Hackathon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ADFA85-6F77-6625-74E5-2DC55BE05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17" y="310556"/>
            <a:ext cx="2305893" cy="990644"/>
          </a:xfrm>
          <a:prstGeom prst="rect">
            <a:avLst/>
          </a:prstGeom>
        </p:spPr>
      </p:pic>
      <p:pic>
        <p:nvPicPr>
          <p:cNvPr id="7" name="Picture 2" descr="Coding Club RVCE - YouTube">
            <a:extLst>
              <a:ext uri="{FF2B5EF4-FFF2-40B4-BE49-F238E27FC236}">
                <a16:creationId xmlns:a16="http://schemas.microsoft.com/office/drawing/2014/main" id="{BB85B39C-23BD-6A71-6759-A81C3A50CF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4" t="18800" r="10717" b="16497"/>
          <a:stretch>
            <a:fillRect/>
          </a:stretch>
        </p:blipFill>
        <p:spPr bwMode="auto">
          <a:xfrm>
            <a:off x="9217663" y="182181"/>
            <a:ext cx="1611544" cy="133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78185F-E472-BCE4-EF12-A430DDC6D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45" y="182181"/>
            <a:ext cx="1119019" cy="111901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664BFC-8FC8-D2D4-8C23-95D0A94958B8}"/>
              </a:ext>
            </a:extLst>
          </p:cNvPr>
          <p:cNvCxnSpPr>
            <a:cxnSpLocks/>
          </p:cNvCxnSpPr>
          <p:nvPr/>
        </p:nvCxnSpPr>
        <p:spPr>
          <a:xfrm>
            <a:off x="10947002" y="310556"/>
            <a:ext cx="0" cy="929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31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1469</TotalTime>
  <Words>493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Berlin Sans FB Demi</vt:lpstr>
      <vt:lpstr>Calibri Light</vt:lpstr>
      <vt:lpstr>Times New Roman</vt:lpstr>
      <vt:lpstr>Office Theme</vt:lpstr>
      <vt:lpstr>Team Name:Meow </vt:lpstr>
      <vt:lpstr>Problem Statement</vt:lpstr>
      <vt:lpstr>Proposed Solution</vt:lpstr>
      <vt:lpstr>Key Features</vt:lpstr>
      <vt:lpstr>System Architecture</vt:lpstr>
      <vt:lpstr>Tech Stack</vt:lpstr>
      <vt:lpstr>Challenges Faced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Raghavendra Prasad B M</dc:creator>
  <cp:lastModifiedBy>Vijay Kumar</cp:lastModifiedBy>
  <cp:revision>8</cp:revision>
  <dcterms:created xsi:type="dcterms:W3CDTF">2025-12-01T05:54:45Z</dcterms:created>
  <dcterms:modified xsi:type="dcterms:W3CDTF">2025-12-05T01:52:28Z</dcterms:modified>
</cp:coreProperties>
</file>